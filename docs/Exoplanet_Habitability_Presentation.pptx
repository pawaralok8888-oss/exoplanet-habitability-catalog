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097280"/>
            <a:ext cx="9448495" cy="4663440"/>
          </a:xfrm>
          <a:prstGeom prst="roundRect">
            <a:avLst/>
          </a:prstGeom>
          <a:solidFill>
            <a:srgbClr val="121A2C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1645920"/>
            <a:ext cx="8534095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8FAFC"/>
                </a:solidFill>
              </a:defRPr>
            </a:pPr>
            <a:r>
              <a:t>🪐 EXOPLANET HABITABILITY CATALOG</a:t>
            </a:r>
          </a:p>
          <a:p>
            <a:pPr>
              <a:spcBef>
                <a:spcPts val="1400"/>
              </a:spcBef>
              <a:defRPr sz="1700">
                <a:solidFill>
                  <a:srgbClr val="38BDF8"/>
                </a:solidFill>
              </a:defRPr>
            </a:pPr>
            <a:r>
              <a:t>A Full-Stack Relational DBMS Architecture &amp; Real-Time Machine Learning Platform</a:t>
            </a:r>
          </a:p>
          <a:p>
            <a:pPr>
              <a:spcBef>
                <a:spcPts val="1000"/>
              </a:spcBef>
              <a:defRPr sz="1300">
                <a:solidFill>
                  <a:srgbClr val="94A3B8"/>
                </a:solidFill>
              </a:defRPr>
            </a:pPr>
            <a:r>
              <a:t>Features: 3NF MySQL Normalization • Polyglot NoSQL Telemetry • Automated Confidence Drift Triggers</a:t>
            </a:r>
          </a:p>
          <a:p>
            <a:pPr>
              <a:spcBef>
                <a:spcPts val="3200"/>
              </a:spcBef>
              <a:defRPr sz="1300" b="1">
                <a:solidFill>
                  <a:srgbClr val="C084FC"/>
                </a:solidFill>
              </a:defRPr>
            </a:pPr>
            <a:r>
              <a:t>👨‍💻 Group Capstone Defense | Database Management Systems (DBMS)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DBMS CAPSTONE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The Astronomical Ingestion Challenge &amp; Research Gap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3291840" cy="4297680"/>
          </a:xfrm>
          <a:prstGeom prst="roundRect">
            <a:avLst/>
          </a:prstGeom>
          <a:solidFill>
            <a:srgbClr val="121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2926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8BDF8"/>
                </a:solidFill>
              </a:defRPr>
            </a:pPr>
            <a:r>
              <a:t>🔭 Raw Ingestion Bottleneck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Space telescopes (Kepler, TESS) generate massive, disparate CSV exports.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Over 100 raw columns with missing values and sensor noise.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Traditional storage lacks automated schema validation.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737360"/>
            <a:ext cx="3291840" cy="4297680"/>
          </a:xfrm>
          <a:prstGeom prst="roundRect">
            <a:avLst/>
          </a:prstGeom>
          <a:solidFill>
            <a:srgbClr val="121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920240"/>
            <a:ext cx="2926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BBF24"/>
                </a:solidFill>
              </a:defRPr>
            </a:pPr>
            <a:r>
              <a:t>📑 The Static Catalog Flaw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Conventional databases are passive data stores.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They record raw numbers without calculating habitability.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Astronomers must manually run external scripts to evaluate Earth similarity.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737360"/>
            <a:ext cx="3291840" cy="4297680"/>
          </a:xfrm>
          <a:prstGeom prst="roundRect">
            <a:avLst/>
          </a:prstGeom>
          <a:solidFill>
            <a:srgbClr val="18223A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920240"/>
            <a:ext cx="2926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C084FC"/>
                </a:solidFill>
              </a:defRPr>
            </a:pPr>
            <a:r>
              <a:t>⚡ The Confidence Drift Gap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Initial planetary measurements have wide error margins.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When revised measurements arrive, standard DBs overwrite silently.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OUR GAP SOLUTION: Automated MySQL triggers that calculate variance and alert researchers when confidence shifts by ≥ 15%!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DBMS CAPSTONE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Enterprise 3-Tier System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10515600" cy="1371600"/>
          </a:xfrm>
          <a:prstGeom prst="roundRect">
            <a:avLst/>
          </a:prstGeom>
          <a:solidFill>
            <a:srgbClr val="121A2C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10149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Tier 1: Presentation (Frontend)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</a:defRPr>
            </a:pPr>
            <a:r>
              <a:t>  •  Aesthetic Space Mission Control (Glassmorphism UI)   |   •  Real-Time Keplerian 2D Canvas Orbit Simulator (T² ∝ a³)   |   •  Confidence Drift Radar &amp; Deep Spectroscopy Dossier   |   •  Asynchronous Fetch API (Debounced Search &amp; Pagination)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291839"/>
            <a:ext cx="10515600" cy="1371600"/>
          </a:xfrm>
          <a:prstGeom prst="roundRect">
            <a:avLst/>
          </a:prstGeom>
          <a:solidFill>
            <a:srgbClr val="121A2C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383279"/>
            <a:ext cx="10149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C084FC"/>
                </a:solidFill>
              </a:defRPr>
            </a:pPr>
            <a:r>
              <a:t>Tier 2: Application (Python / REST API)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</a:defRPr>
            </a:pPr>
            <a:r>
              <a:t>  •  Python 3.13 + Flask Modular Blueprint Architecture   |   •  Scikit-Learn Random Forest Classifier (200 Estimators)   |   •  Custom Decimal-to-Float JSON Serialization Engine   |   •  Live NASA TAP (Table Access Protocol) Synchronization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846320"/>
            <a:ext cx="10515600" cy="1371600"/>
          </a:xfrm>
          <a:prstGeom prst="roundRect">
            <a:avLst/>
          </a:prstGeom>
          <a:solidFill>
            <a:srgbClr val="121A2C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937760"/>
            <a:ext cx="10149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4D399"/>
                </a:solidFill>
              </a:defRPr>
            </a:pPr>
            <a:r>
              <a:t>Tier 3: Database (MySQL 8.0 Engine)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</a:defRPr>
            </a:pPr>
            <a:r>
              <a:t>  •  3NF Relational Decomposition: stars (3,010) ──&lt; exoplanets (4,048)   |   •  Automated DML Triggers: trg_after_exoplanet_update   |   •  Pre-Compiled Stored Procedures: sp_GetCatalogOverviewStats (&lt; 15ms)   |   •  Hybrid NoSQL JSON Document Store: telemetry_json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DBMS CAPSTONE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Database Design: 3NF Relational Decomposition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5120640" cy="4297680"/>
          </a:xfrm>
          <a:prstGeom prst="roundRect">
            <a:avLst/>
          </a:prstGeom>
          <a:solidFill>
            <a:srgbClr val="121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⭐ PARENT TABLE: stars (3,010 Records)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  <a:latin typeface="Consolas"/>
              </a:defRPr>
            </a:pPr>
            <a:r>
              <a:t>star_id INT AUTO_INCREMENT PRIMARY KEY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  <a:latin typeface="Consolas"/>
              </a:defRPr>
            </a:pPr>
            <a:r>
              <a:t>name VARCHAR(100) NOT NULL UNIQUE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  <a:latin typeface="Consolas"/>
              </a:defRPr>
            </a:pPr>
            <a:r>
              <a:t>spectral_type VARCHAR(30) -- e.g. G2 V, M8 V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  <a:latin typeface="Consolas"/>
              </a:defRPr>
            </a:pPr>
            <a:r>
              <a:t>temperature DECIMAL(10,2) -- Kelvin (K)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  <a:latin typeface="Consolas"/>
              </a:defRPr>
            </a:pPr>
            <a:r>
              <a:t>radius DECIMAL(10,4)      -- Solar Radii (R☉)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  <a:latin typeface="Consolas"/>
              </a:defRPr>
            </a:pPr>
            <a:r>
              <a:t>mass DECIMAL(10,4)        -- Solar Masses (M☉)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  <a:latin typeface="Consolas"/>
              </a:defRPr>
            </a:pPr>
            <a:r>
              <a:t>luminosity DECIMAL(14,6)  -- Solar Luminosity (L☉)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  <a:latin typeface="Consolas"/>
              </a:defRPr>
            </a:pPr>
            <a:r>
              <a:t>distance_from_earth DECIMAL(12,4) -- Light-Years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737360"/>
            <a:ext cx="5120640" cy="4297680"/>
          </a:xfrm>
          <a:prstGeom prst="roundRect">
            <a:avLst/>
          </a:prstGeom>
          <a:solidFill>
            <a:srgbClr val="121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92024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D399"/>
                </a:solidFill>
              </a:defRPr>
            </a:pPr>
            <a:r>
              <a:t>🪐 CHILD TABLE: exoplanets (4,048 Records)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  <a:latin typeface="Consolas"/>
              </a:defRPr>
            </a:pPr>
            <a:r>
              <a:t>planet_id INT AUTO_INCREMENT PRIMARY KEY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  <a:latin typeface="Consolas"/>
              </a:defRPr>
            </a:pPr>
            <a:r>
              <a:t>star_id INT NOT NULL -- FOREIGN KEY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  <a:latin typeface="Consolas"/>
              </a:defRPr>
            </a:pPr>
            <a:r>
              <a:t>name VARCHAR(100) NOT NULL UNIQUE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  <a:latin typeface="Consolas"/>
              </a:defRPr>
            </a:pPr>
            <a:r>
              <a:t>radius DECIMAL(10,4)     -- Earth Radii (R⊕)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  <a:latin typeface="Consolas"/>
              </a:defRPr>
            </a:pPr>
            <a:r>
              <a:t>mass DECIMAL(10,4)       -- Earth Masses (M⊕)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  <a:latin typeface="Consolas"/>
              </a:defRPr>
            </a:pPr>
            <a:r>
              <a:t>predicted_habitability DECIMAL(5,4) -- ML Score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  <a:latin typeface="Consolas"/>
              </a:defRPr>
            </a:pPr>
            <a:r>
              <a:t>telemetry_json JSON      -- Hybrid NoSQL Doc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  <a:latin typeface="Consolas"/>
              </a:defRPr>
            </a:pPr>
            <a:r>
              <a:t>CONSTRAINT fk_planet_star FOREIGN KEY (star_id)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  <a:latin typeface="Consolas"/>
              </a:defRPr>
            </a:pPr>
            <a:r>
              <a:t>  REFERENCES stars(star_id) ON DELETE CASCADE</a:t>
            </a:r>
          </a:p>
          <a:p>
            <a:pPr>
              <a:spcBef>
                <a:spcPts val="1200"/>
              </a:spcBef>
              <a:defRPr sz="1100" b="1">
                <a:solidFill>
                  <a:srgbClr val="FBBF24"/>
                </a:solidFill>
              </a:defRPr>
            </a:pPr>
            <a:r>
              <a:t>🔒 ON DELETE CASCADE: Deleting a host star purges orbiting bodies, preventing orphan records.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DBMS CAPSTONE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Polyglot Persistence: Relational + NoSQL in MySQL 8.0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5120640" cy="4297680"/>
          </a:xfrm>
          <a:prstGeom prst="roundRect">
            <a:avLst/>
          </a:prstGeom>
          <a:solidFill>
            <a:srgbClr val="121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8BDF8"/>
                </a:solidFill>
              </a:defRPr>
            </a:pPr>
            <a:r>
              <a:t>🏛️ Why Polyglot Persistence?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• Relational Core: Enforces strict ACID compliance and 1-to-many joins between stars and planets.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• Document Storage: Space telescopes produce evolving, semi-structured spectroscopic telemetry.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• The Solution: Native MySQL JSON document column (telemetry_json) inside the exoplanets entity.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• Provides NoSQL flexibility without losing foreign key constraints!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737360"/>
            <a:ext cx="5120640" cy="4297680"/>
          </a:xfrm>
          <a:prstGeom prst="roundRect">
            <a:avLst/>
          </a:prstGeom>
          <a:solidFill>
            <a:srgbClr val="18223A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92024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C084FC"/>
                </a:solidFill>
              </a:defRPr>
            </a:pPr>
            <a:r>
              <a:t>📦 JSON Document Structure (telemetry_json)</a:t>
            </a:r>
          </a:p>
          <a:p>
            <a:pPr>
              <a:spcBef>
                <a:spcPts val="200"/>
              </a:spcBef>
              <a:defRPr sz="1100">
                <a:solidFill>
                  <a:srgbClr val="F8FAFC"/>
                </a:solidFill>
                <a:latin typeface="Consolas"/>
              </a:defRPr>
            </a:pPr>
            <a:r>
              <a:t>{</a:t>
            </a:r>
          </a:p>
          <a:p>
            <a:pPr>
              <a:spcBef>
                <a:spcPts val="200"/>
              </a:spcBef>
              <a:defRPr sz="1100">
                <a:solidFill>
                  <a:srgbClr val="F8FAFC"/>
                </a:solidFill>
                <a:latin typeface="Consolas"/>
              </a:defRPr>
            </a:pPr>
            <a:r>
              <a:t>  "mission_source": "NASA Kepler / TESS",</a:t>
            </a:r>
          </a:p>
          <a:p>
            <a:pPr>
              <a:spcBef>
                <a:spcPts val="200"/>
              </a:spcBef>
              <a:defRPr sz="1100">
                <a:solidFill>
                  <a:srgbClr val="F8FAFC"/>
                </a:solidFill>
                <a:latin typeface="Consolas"/>
              </a:defRPr>
            </a:pPr>
            <a:r>
              <a:t>  "spectroscopy": {</a:t>
            </a:r>
          </a:p>
          <a:p>
            <a:pPr>
              <a:spcBef>
                <a:spcPts val="200"/>
              </a:spcBef>
              <a:defRPr sz="1100">
                <a:solidFill>
                  <a:srgbClr val="F8FAFC"/>
                </a:solidFill>
                <a:latin typeface="Consolas"/>
              </a:defRPr>
            </a:pPr>
            <a:r>
              <a:t>    "biosignature_status": "CANDIDATE_DETECTED",</a:t>
            </a:r>
          </a:p>
          <a:p>
            <a:pPr>
              <a:spcBef>
                <a:spcPts val="200"/>
              </a:spcBef>
              <a:defRPr sz="1100">
                <a:solidFill>
                  <a:srgbClr val="F8FAFC"/>
                </a:solidFill>
                <a:latin typeface="Consolas"/>
              </a:defRPr>
            </a:pPr>
            <a:r>
              <a:t>    "water_vapor_confidence": 0.88,</a:t>
            </a:r>
          </a:p>
          <a:p>
            <a:pPr>
              <a:spcBef>
                <a:spcPts val="200"/>
              </a:spcBef>
              <a:defRPr sz="1100">
                <a:solidFill>
                  <a:srgbClr val="F8FAFC"/>
                </a:solidFill>
                <a:latin typeface="Consolas"/>
              </a:defRPr>
            </a:pPr>
            <a:r>
              <a:t>    "methane_confidence": 0.65,</a:t>
            </a:r>
          </a:p>
          <a:p>
            <a:pPr>
              <a:spcBef>
                <a:spcPts val="200"/>
              </a:spcBef>
              <a:defRPr sz="1100">
                <a:solidFill>
                  <a:srgbClr val="F8FAFC"/>
                </a:solidFill>
                <a:latin typeface="Consolas"/>
              </a:defRPr>
            </a:pPr>
            <a:r>
              <a:t>    "spectroscopy_grade": "A+"</a:t>
            </a:r>
          </a:p>
          <a:p>
            <a:pPr>
              <a:spcBef>
                <a:spcPts val="200"/>
              </a:spcBef>
              <a:defRPr sz="1100">
                <a:solidFill>
                  <a:srgbClr val="F8FAFC"/>
                </a:solidFill>
                <a:latin typeface="Consolas"/>
              </a:defRPr>
            </a:pPr>
            <a:r>
              <a:t>  },</a:t>
            </a:r>
          </a:p>
          <a:p>
            <a:pPr>
              <a:spcBef>
                <a:spcPts val="200"/>
              </a:spcBef>
              <a:defRPr sz="1100">
                <a:solidFill>
                  <a:srgbClr val="F8FAFC"/>
                </a:solidFill>
                <a:latin typeface="Consolas"/>
              </a:defRPr>
            </a:pPr>
            <a:r>
              <a:t>  "astro_parameters": {</a:t>
            </a:r>
          </a:p>
          <a:p>
            <a:pPr>
              <a:spcBef>
                <a:spcPts val="200"/>
              </a:spcBef>
              <a:defRPr sz="1100">
                <a:solidFill>
                  <a:srgbClr val="F8FAFC"/>
                </a:solidFill>
                <a:latin typeface="Consolas"/>
              </a:defRPr>
            </a:pPr>
            <a:r>
              <a:t>    "eccentricity": 0.007,</a:t>
            </a:r>
          </a:p>
          <a:p>
            <a:pPr>
              <a:spcBef>
                <a:spcPts val="200"/>
              </a:spcBef>
              <a:defRPr sz="1100">
                <a:solidFill>
                  <a:srgbClr val="F8FAFC"/>
                </a:solidFill>
                <a:latin typeface="Consolas"/>
              </a:defRPr>
            </a:pPr>
            <a:r>
              <a:t>    "inclination_deg": 89.7</a:t>
            </a:r>
          </a:p>
          <a:p>
            <a:pPr>
              <a:spcBef>
                <a:spcPts val="200"/>
              </a:spcBef>
              <a:defRPr sz="1100">
                <a:solidFill>
                  <a:srgbClr val="F8FAFC"/>
                </a:solidFill>
                <a:latin typeface="Consolas"/>
              </a:defRPr>
            </a:pPr>
            <a:r>
              <a:t>  }</a:t>
            </a:r>
          </a:p>
          <a:p>
            <a:pPr>
              <a:spcBef>
                <a:spcPts val="200"/>
              </a:spcBef>
              <a:defRPr sz="1100">
                <a:solidFill>
                  <a:srgbClr val="F8FAFC"/>
                </a:solidFill>
                <a:latin typeface="Consolas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DBMS CAPSTONE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Core DBMS Innovation: The Confidence Drift Trigger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10515600" cy="4297680"/>
          </a:xfrm>
          <a:prstGeom prst="roundRect">
            <a:avLst/>
          </a:prstGeom>
          <a:solidFill>
            <a:srgbClr val="121A2C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10149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BBF24"/>
                </a:solidFill>
              </a:defRPr>
            </a:pPr>
            <a:r>
              <a:t>⚡ TRIGGER: trg_after_exoplanet_update (MySQL DML Trigger)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Consolas"/>
              </a:defRPr>
            </a:pPr>
            <a:r>
              <a:t>1. TRIGGER DEFINITION: CREATE TRIGGER trg_after_exoplanet_update AFTER UPDATE ON exoplanets FOR EACH ROW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Consolas"/>
              </a:defRPr>
            </a:pPr>
            <a:r>
              <a:t>2. DETECT SCORE VARIANCE: IF (NEW.predicted_habitability &lt;&gt; OLD.predicted_habitability) THEN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Consolas"/>
              </a:defRPr>
            </a:pPr>
            <a:r>
              <a:t>3. COMPUTE DELTA: SET delta = NEW.predicted_habitability - OLD.predicted_habitability;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Consolas"/>
              </a:defRPr>
            </a:pPr>
            <a:r>
              <a:t>4. SIGNIFICANCE THRESHOLD CHECK: IF ABS(delta) &gt;= 0.15 THEN -- 15% Confidence Shift Threshold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Consolas"/>
              </a:defRPr>
            </a:pPr>
            <a:r>
              <a:t>       SET is_drift_alert = 1; -- Automatically flags alert badge on frontend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Consolas"/>
              </a:defRPr>
            </a:pPr>
            <a:r>
              <a:t>       SET note_text = CONCAT('CONFIDENCE DRIFT: Delta ', ROUND(delta * 100, 1), '%');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Consolas"/>
              </a:defRPr>
            </a:pPr>
            <a:r>
              <a:t>5. IMMUTABLE HISTORICAL LOGGING: INSERT INTO habitability_log (planet_id, old_score, new_score, delta, is_drift_alert...)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Consolas"/>
              </a:defRPr>
            </a:pPr>
            <a:r>
              <a:t>6. AUDIT TRAIL LOGGING: INSERT INTO system_audit_trail (action, entity_type, entity_id, details...)</a:t>
            </a:r>
          </a:p>
          <a:p>
            <a:pPr>
              <a:spcBef>
                <a:spcPts val="1200"/>
              </a:spcBef>
              <a:defRPr sz="1200" b="1">
                <a:solidFill>
                  <a:srgbClr val="38BDF8"/>
                </a:solidFill>
              </a:defRPr>
            </a:pPr>
            <a:r>
              <a:t>🎯 DBMS Takeaway: The application code merely updates a row; the database itself computes variance, detects scientific drift, and writes audit history automatically.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DBMS CAPSTONE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Server Execution: Stored Procedures &amp; Views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5120640" cy="4297680"/>
          </a:xfrm>
          <a:prstGeom prst="roundRect">
            <a:avLst/>
          </a:prstGeom>
          <a:solidFill>
            <a:srgbClr val="121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⚙️ Stored Procedure: sp_GetCatalogOverviewStats</a:t>
            </a:r>
          </a:p>
          <a:p>
            <a:pPr>
              <a:spcBef>
                <a:spcPts val="400"/>
              </a:spcBef>
              <a:defRPr sz="1200">
                <a:solidFill>
                  <a:srgbClr val="F8FAFC"/>
                </a:solidFill>
              </a:defRPr>
            </a:pPr>
            <a:r>
              <a:t>Compiled Server Execution: Runs directly inside MySQL's engine.</a:t>
            </a:r>
          </a:p>
          <a:p>
            <a:pPr>
              <a:spcBef>
                <a:spcPts val="400"/>
              </a:spcBef>
              <a:defRPr sz="1200">
                <a:solidFill>
                  <a:srgbClr val="F8FAFC"/>
                </a:solidFill>
              </a:defRPr>
            </a:pPr>
            <a:r>
              <a:t>Aggregates 6 key catalog metrics in a single network round-trip:</a:t>
            </a:r>
          </a:p>
          <a:p>
            <a:pPr>
              <a:spcBef>
                <a:spcPts val="400"/>
              </a:spcBef>
              <a:defRPr sz="1200">
                <a:solidFill>
                  <a:srgbClr val="F8FAFC"/>
                </a:solidFill>
              </a:defRPr>
            </a:pPr>
            <a:r>
              <a:t>  • Total Planets (4,048)</a:t>
            </a:r>
          </a:p>
          <a:p>
            <a:pPr>
              <a:spcBef>
                <a:spcPts val="400"/>
              </a:spcBef>
              <a:defRPr sz="1200">
                <a:solidFill>
                  <a:srgbClr val="F8FAFC"/>
                </a:solidFill>
              </a:defRPr>
            </a:pPr>
            <a:r>
              <a:t>  • Total Stars (3,010)</a:t>
            </a:r>
          </a:p>
          <a:p>
            <a:pPr>
              <a:spcBef>
                <a:spcPts val="400"/>
              </a:spcBef>
              <a:defRPr sz="1200">
                <a:solidFill>
                  <a:srgbClr val="F8FAFC"/>
                </a:solidFill>
              </a:defRPr>
            </a:pPr>
            <a:r>
              <a:t>  • Confirmed Habitable (57)</a:t>
            </a:r>
          </a:p>
          <a:p>
            <a:pPr>
              <a:spcBef>
                <a:spcPts val="400"/>
              </a:spcBef>
              <a:defRPr sz="1200">
                <a:solidFill>
                  <a:srgbClr val="F8FAFC"/>
                </a:solidFill>
              </a:defRPr>
            </a:pPr>
            <a:r>
              <a:t>  • Average ESI Score (0.370)</a:t>
            </a:r>
          </a:p>
          <a:p>
            <a:pPr>
              <a:spcBef>
                <a:spcPts val="400"/>
              </a:spcBef>
              <a:defRPr sz="1200">
                <a:solidFill>
                  <a:srgbClr val="F8FAFC"/>
                </a:solidFill>
              </a:defRPr>
            </a:pPr>
            <a:r>
              <a:t>  • Active Drift Alerts (10)</a:t>
            </a:r>
          </a:p>
          <a:p>
            <a:pPr>
              <a:spcBef>
                <a:spcPts val="400"/>
              </a:spcBef>
              <a:defRPr sz="1200">
                <a:solidFill>
                  <a:srgbClr val="F8FAFC"/>
                </a:solidFill>
              </a:defRPr>
            </a:pPr>
            <a:r>
              <a:t>  • Nearest Habitable Distance (4.24 LY)</a:t>
            </a:r>
          </a:p>
          <a:p>
            <a:pPr>
              <a:spcBef>
                <a:spcPts val="400"/>
              </a:spcBef>
              <a:defRPr sz="1200">
                <a:solidFill>
                  <a:srgbClr val="F8FAFC"/>
                </a:solidFill>
              </a:defRPr>
            </a:pPr>
            <a:r>
              <a:t>Benchmark: Executes in under 15ms across 4,000+ records!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737360"/>
            <a:ext cx="5120640" cy="4297680"/>
          </a:xfrm>
          <a:prstGeom prst="roundRect">
            <a:avLst/>
          </a:prstGeom>
          <a:solidFill>
            <a:srgbClr val="121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92024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4D399"/>
                </a:solidFill>
              </a:defRPr>
            </a:pPr>
            <a:r>
              <a:t>👁️ Materialized Logic Views</a:t>
            </a:r>
          </a:p>
          <a:p>
            <a:pPr>
              <a:spcBef>
                <a:spcPts val="600"/>
              </a:spcBef>
              <a:defRPr sz="1200" b="1">
                <a:solidFill>
                  <a:srgbClr val="FBBF24"/>
                </a:solidFill>
              </a:defRPr>
            </a:pPr>
            <a:r>
              <a:t>• v_goldilocks_candidates: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Multi-table relational join (planets + stars) filtering worlds residing inside their host star's liquid water boundary.</a:t>
            </a:r>
          </a:p>
          <a:p>
            <a:pPr>
              <a:spcBef>
                <a:spcPts val="600"/>
              </a:spcBef>
              <a:defRPr sz="1200" b="1">
                <a:solidFill>
                  <a:srgbClr val="FBBF24"/>
                </a:solidFill>
              </a:defRPr>
            </a:pPr>
            <a:r>
              <a:t>• v_star_systems_summary: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GROUP BY aggregation computing total worlds, habitable worlds, and average ESI per star system.</a:t>
            </a:r>
          </a:p>
          <a:p>
            <a:pPr>
              <a:spcBef>
                <a:spcPts val="600"/>
              </a:spcBef>
              <a:defRPr sz="1200" b="1">
                <a:solidFill>
                  <a:srgbClr val="FBBF24"/>
                </a:solidFill>
              </a:defRPr>
            </a:pPr>
            <a:r>
              <a:t>• v_confidence_drift_alerts: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Pre-filtered view joining exoplanets and stars on habitability_log where is_drift_alert = 1.</a:t>
            </a:r>
          </a:p>
          <a:p>
            <a:pPr>
              <a:spcBef>
                <a:spcPts val="600"/>
              </a:spcBef>
              <a:defRPr sz="1200" b="1">
                <a:solidFill>
                  <a:srgbClr val="FBBF24"/>
                </a:solidFill>
              </a:defRPr>
            </a:pPr>
            <a:r>
              <a:t>• v_top_earth_twins: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Top 25 terrestrial candidates ranked by composite Earth similarity formula.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DBMS CAPSTONE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Machine Learning: Random Forest Habitability Predictor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5120640" cy="4297680"/>
          </a:xfrm>
          <a:prstGeom prst="roundRect">
            <a:avLst/>
          </a:prstGeom>
          <a:solidFill>
            <a:srgbClr val="121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D399"/>
                </a:solidFill>
              </a:defRPr>
            </a:pPr>
            <a:r>
              <a:t>🌳 Random Forest Classifier (200 Trees)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Why Random Forest? Astronomical boundaries are highly non-linear (planets too hot or too cold are non-habitable).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Ensemble of 200 de-correlated decision trees voting on habitability probability (0.0 to 1.0).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Extreme Class Imbalance Solution: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  • Only 57 out of 4,048 planets (~1.4%) are habitable.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  • Handled via class_weight='balanced' to heavily penalize false negatives.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Model exported as model.pkl and cached in backend memory.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737360"/>
            <a:ext cx="5120640" cy="4297680"/>
          </a:xfrm>
          <a:prstGeom prst="roundRect">
            <a:avLst/>
          </a:prstGeom>
          <a:solidFill>
            <a:srgbClr val="121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92024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🧬 Feature Vector (10 Dimensions)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  <a:latin typeface="Consolas"/>
              </a:defRPr>
            </a:pPr>
            <a:r>
              <a:t>1. Earth Similarity Index (ESI score: 0.0 - 1.0)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  <a:latin typeface="Consolas"/>
              </a:defRPr>
            </a:pPr>
            <a:r>
              <a:t>2. Habitable Zone Flag (1 inside Goldilocks, 0 outside)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  <a:latin typeface="Consolas"/>
              </a:defRPr>
            </a:pPr>
            <a:r>
              <a:t>3. Planet Radius (R⊕ - Earth Radii)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  <a:latin typeface="Consolas"/>
              </a:defRPr>
            </a:pPr>
            <a:r>
              <a:t>4. Planet Mass (M⊕ - Earth Masses)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  <a:latin typeface="Consolas"/>
              </a:defRPr>
            </a:pPr>
            <a:r>
              <a:t>5. Equilibrium Temperature (Kelvin)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  <a:latin typeface="Consolas"/>
              </a:defRPr>
            </a:pPr>
            <a:r>
              <a:t>6. Orbital Period (Days)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  <a:latin typeface="Consolas"/>
              </a:defRPr>
            </a:pPr>
            <a:r>
              <a:t>7. Insolation Stellar Flux (relative to Earth)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  <a:latin typeface="Consolas"/>
              </a:defRPr>
            </a:pPr>
            <a:r>
              <a:t>8. Host Star Temperature (Kelvin)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  <a:latin typeface="Consolas"/>
              </a:defRPr>
            </a:pPr>
            <a:r>
              <a:t>9. Host Star Radius (R☉ - Solar Radii)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  <a:latin typeface="Consolas"/>
              </a:defRPr>
            </a:pPr>
            <a:r>
              <a:t>10. Host Star Mass (M☉ - Solar Masses)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DBMS CAPSTONE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Frontend Engineering &amp; Keplerian Orbit Simulator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5120640" cy="4297680"/>
          </a:xfrm>
          <a:prstGeom prst="roundRect">
            <a:avLst/>
          </a:prstGeom>
          <a:solidFill>
            <a:srgbClr val="121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🪐 Real-Time 2D Orbit Simulator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Pure HTML5 Canvas without heavy frameworks.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Renders central star's corona flare colored by stellar spectral class (G-Type Yellow, M-Dwarf Red).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Calculates Circumstellar Habitable Zone boundaries dynamically from stellar luminosity: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    r_inner = sqrt(L / 1.1) AU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    r_outer = sqrt(L / 0.53) AU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Revolving planets obey Kepler's Third Law (T² ∝ a³): orbital angular velocity ω ∝ 1 / sqrt(a³).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737360"/>
            <a:ext cx="5120640" cy="4297680"/>
          </a:xfrm>
          <a:prstGeom prst="roundRect">
            <a:avLst/>
          </a:prstGeom>
          <a:solidFill>
            <a:srgbClr val="121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92024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C084FC"/>
                </a:solidFill>
              </a:defRPr>
            </a:pPr>
            <a:r>
              <a:t>🎨 Manifestation of DBMS Concepts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• Foreign Key Transparency: Table explicitly displays Host Star (Foreign Key) and FK ID # references.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• Confidence Drift Badges: Automated triggers visually pulse when a score shift ≥ 15% is detected.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• Deep Spectroscopy Modal: Surfacing the MySQL JSON document store (biosignatures and spectroscopy).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• Live NASA TAP Sync: Button hitting Caltech IPAC servers to insert newly confirmed exoplanets.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DBMS CAPSTONE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Team Presentation Flow &amp; Live Demo Script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5120640" cy="4297680"/>
          </a:xfrm>
          <a:prstGeom prst="roundRect">
            <a:avLst/>
          </a:prstGeom>
          <a:solidFill>
            <a:srgbClr val="121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C084FC"/>
                </a:solidFill>
              </a:defRPr>
            </a:pPr>
            <a:r>
              <a:t>👥 Team Speaking Division (4 Members)</a:t>
            </a:r>
          </a:p>
          <a:p>
            <a:pPr>
              <a:spcBef>
                <a:spcPts val="600"/>
              </a:spcBef>
              <a:defRPr sz="1200" b="1">
                <a:solidFill>
                  <a:srgbClr val="38BDF8"/>
                </a:solidFill>
              </a:defRPr>
            </a:pPr>
            <a:r>
              <a:t>Member 1 (Intro):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Problem background, data ingestion from NASA, static catalog limitations, and the Confidence Drift concept.</a:t>
            </a:r>
          </a:p>
          <a:p>
            <a:pPr>
              <a:spcBef>
                <a:spcPts val="600"/>
              </a:spcBef>
              <a:defRPr sz="1200" b="1">
                <a:solidFill>
                  <a:srgbClr val="38BDF8"/>
                </a:solidFill>
              </a:defRPr>
            </a:pPr>
            <a:r>
              <a:t>Member 2 (DBMS Core):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3NF relational normalization, foreign key cascading constraints, stored procedures, and B-Tree indexes.</a:t>
            </a:r>
          </a:p>
          <a:p>
            <a:pPr>
              <a:spcBef>
                <a:spcPts val="600"/>
              </a:spcBef>
              <a:defRPr sz="1200" b="1">
                <a:solidFill>
                  <a:srgbClr val="38BDF8"/>
                </a:solidFill>
              </a:defRPr>
            </a:pPr>
            <a:r>
              <a:t>Member 3 (Triggers):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Line-by-line explanation of trg_after_exoplanet_update, delta calculation, and audit trail tables.</a:t>
            </a:r>
          </a:p>
          <a:p>
            <a:pPr>
              <a:spcBef>
                <a:spcPts val="600"/>
              </a:spcBef>
              <a:defRPr sz="1200" b="1">
                <a:solidFill>
                  <a:srgbClr val="38BDF8"/>
                </a:solidFill>
              </a:defRPr>
            </a:pPr>
            <a:r>
              <a:t>Member 4 (ML &amp; Demo):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Random forest model, class imbalance strategy, live UI walkthrough, and NASA TAP synchronization.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737360"/>
            <a:ext cx="5120640" cy="4297680"/>
          </a:xfrm>
          <a:prstGeom prst="roundRect">
            <a:avLst/>
          </a:prstGeom>
          <a:solidFill>
            <a:srgbClr val="18223A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92024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BBF24"/>
                </a:solidFill>
              </a:defRPr>
            </a:pPr>
            <a:r>
              <a:t>🎯 Step-by-Step Live Demo Path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1. Open Mission Control: Show HUD metrics (4,048 worlds, 3,010 stars, 57 habitable worlds).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2. Relational Search: Search 'TRAPPIST' — show foreign key links to star ID #2802.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3. Orbit Simulator: Switch to TRAPPIST-1 — show the green habitable zone ring and revolving planets.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4. TRIGGER THE NOVELTY: Edit Kepler-452 b, change mass from 5.0 to 500.0, hit Save.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5. Verify: The ML model rescores it, the trigger detects the drop, and the ⚡ DRIFT badge appears!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6. Drift Radar: Open the Drift Radar tab to inspect the historical audit trail generated by MySQL.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DBMS CAPSTONE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Anticipated Viva Defense Questions &amp; Answers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91640"/>
            <a:ext cx="10515600" cy="1097280"/>
          </a:xfrm>
          <a:prstGeom prst="roundRect">
            <a:avLst/>
          </a:prstGeom>
          <a:solidFill>
            <a:srgbClr val="121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10149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Q: Why MySQL instead of MongoDB?</a:t>
            </a:r>
          </a:p>
          <a:p>
            <a:pPr>
              <a:spcBef>
                <a:spcPts val="200"/>
              </a:spcBef>
              <a:defRPr sz="1100">
                <a:solidFill>
                  <a:srgbClr val="F8FAFC"/>
                </a:solidFill>
              </a:defRPr>
            </a:pPr>
            <a:r>
              <a:t>A: Planets orbit stars in a strict 1-to-many relationship requiring ACID transactions and foreign key cascade integrity. However, to capture evolving telemetry, we implemented Polyglot Persistence inside MySQL 8.0, using JSON document columns for spectroscopy.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926080"/>
            <a:ext cx="10515600" cy="1097280"/>
          </a:xfrm>
          <a:prstGeom prst="roundRect">
            <a:avLst/>
          </a:prstGeom>
          <a:solidFill>
            <a:srgbClr val="121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971800"/>
            <a:ext cx="10149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Q: What is the novelty of your project?</a:t>
            </a:r>
          </a:p>
          <a:p>
            <a:pPr>
              <a:spcBef>
                <a:spcPts val="200"/>
              </a:spcBef>
              <a:defRPr sz="1100">
                <a:solidFill>
                  <a:srgbClr val="F8FAFC"/>
                </a:solidFill>
              </a:defRPr>
            </a:pPr>
            <a:r>
              <a:t>A: Traditional catalogs are static. Our novelty is Confidence Drift Tracking: automated MySQL AFTER UPDATE triggers that compute variance (Δ = NEW - OLD) and flag significant shifts (≥ 15%) into an immutable audit log without external application logic.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160520"/>
            <a:ext cx="10515600" cy="1097280"/>
          </a:xfrm>
          <a:prstGeom prst="roundRect">
            <a:avLst/>
          </a:prstGeom>
          <a:solidFill>
            <a:srgbClr val="121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206240"/>
            <a:ext cx="10149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Q: How do your triggers enforce referential integrity?</a:t>
            </a:r>
          </a:p>
          <a:p>
            <a:pPr>
              <a:spcBef>
                <a:spcPts val="200"/>
              </a:spcBef>
              <a:defRPr sz="1100">
                <a:solidFill>
                  <a:srgbClr val="F8FAFC"/>
                </a:solidFill>
              </a:defRPr>
            </a:pPr>
            <a:r>
              <a:t>A: fk_planet_star has ON DELETE CASCADE. If a host star is removed, all orbiting planets and their drift logs are purged automatically by InnoDB, preventing orphan records.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5394960"/>
            <a:ext cx="10515600" cy="1097280"/>
          </a:xfrm>
          <a:prstGeom prst="roundRect">
            <a:avLst/>
          </a:prstGeom>
          <a:solidFill>
            <a:srgbClr val="121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5440680"/>
            <a:ext cx="10149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Q: Why Random Forest over Logistic Regression?</a:t>
            </a:r>
          </a:p>
          <a:p>
            <a:pPr>
              <a:spcBef>
                <a:spcPts val="200"/>
              </a:spcBef>
              <a:defRPr sz="1100">
                <a:solidFill>
                  <a:srgbClr val="F8FAFC"/>
                </a:solidFill>
              </a:defRPr>
            </a:pPr>
            <a:r>
              <a:t>A: Habitability boundaries are non-linear (extremes in either direction are non-habitable). Random Forest ensembles 200 decision trees and handles extreme class imbalance (1.4% habitable) via balanced class weights.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371600"/>
            <a:ext cx="9448495" cy="4114800"/>
          </a:xfrm>
          <a:prstGeom prst="roundRect">
            <a:avLst/>
          </a:prstGeom>
          <a:solidFill>
            <a:srgbClr val="121A2C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1828800"/>
            <a:ext cx="85340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8FAFC"/>
                </a:solidFill>
              </a:defRPr>
            </a:pPr>
            <a:r>
              <a:t>✨ Thank You! Questions &amp; Discussion</a:t>
            </a:r>
          </a:p>
          <a:p>
            <a:pPr>
              <a:spcBef>
                <a:spcPts val="1200"/>
              </a:spcBef>
              <a:defRPr sz="1700">
                <a:solidFill>
                  <a:srgbClr val="34D399"/>
                </a:solidFill>
              </a:defRPr>
            </a:pPr>
            <a:r>
              <a:t>Exoplanet Habitability Catalog — A Full-Stack DBMS Capstone Achievement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</a:defRPr>
            </a:pPr>
            <a:r>
              <a:t>• 3NF Relational Model: 3,010 real star systems and 4,048 exoplanets.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</a:defRPr>
            </a:pPr>
            <a:r>
              <a:t>• Automated MySQL Triggers: Real-time Confidence Drift engine flagging shifts ≥ 15%.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</a:defRPr>
            </a:pPr>
            <a:r>
              <a:t>• Polyglot JSON Documents: Deep spectroscopy and biosignature storage.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</a:defRPr>
            </a:pPr>
            <a:r>
              <a:t>• Interactive Keplerian Orbit Simulator: Circumstellar liquid-water zone dynamics.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